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</a:t>
            </a:r>
          </a:p>
          <a:p>
            <a:r>
              <a:t>"Thank you for joining us. Today we're showcasing GeoClaw's work with NISAR — NASA and ISRO's</a:t>
            </a:r>
          </a:p>
          <a:p>
            <a:r>
              <a:t>joint L-band SAR mission. NISAR represents a generational leap in radar remote sensing, and</a:t>
            </a:r>
          </a:p>
          <a:p>
            <a:r>
              <a:t>GeoClaw is at the forefront of processing and applying this data for real-world monitoring.</a:t>
            </a:r>
          </a:p>
          <a:p>
            <a:r>
              <a:t>We'll show you actual results comparing NISAR with Sentinel-1, demonstrate our water body</a:t>
            </a:r>
          </a:p>
          <a:p>
            <a:r>
              <a:t>mapping capabilities, and explain why L-band matters for your projects."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NARRATION:</a:t>
            </a:r>
          </a:p>
          <a:p>
            <a:r>
              <a:t>"NISAR is the joint NASA-ISRO SAR mission — the most advanced radar satellite ever built.</a:t>
            </a:r>
          </a:p>
          <a:p>
            <a:r>
              <a:t>It operates at L-band, which means a 24-centimeter wavelength. Why does this matter?</a:t>
            </a:r>
          </a:p>
          <a:p>
            <a:r>
              <a:t>Because L-band penetrates vegetation. Sentinel-1, which operates at C-band, bounces off</a:t>
            </a:r>
          </a:p>
          <a:p>
            <a:r>
              <a:t>tree canopy and crops — it can't see the ground underneath. NISAR's L-band goes through</a:t>
            </a:r>
          </a:p>
          <a:p>
            <a:r>
              <a:t>the canopy and reaches the actual surface. This is transformative for tropical regions</a:t>
            </a:r>
          </a:p>
          <a:p>
            <a:r>
              <a:t>like Brazil, where dense vegetation masks ground changes. GeoClaw is one of the first</a:t>
            </a:r>
          </a:p>
          <a:p>
            <a:r>
              <a:t>commercial teams actively processing NISAR data for operational applications."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NARRATION:</a:t>
            </a:r>
          </a:p>
          <a:p>
            <a:r>
              <a:t>"This is our core result. We processed the same three reservoir areas using three different</a:t>
            </a:r>
          </a:p>
          <a:p>
            <a:r>
              <a:t>sensors. On the left, Sentinel-2 optical imagery shows water in blue and vegetation in green.</a:t>
            </a:r>
          </a:p>
          <a:p>
            <a:r>
              <a:t>In the center, Sentinel-1 C-band radar — red is land, green is detected water. On the right,</a:t>
            </a:r>
          </a:p>
          <a:p>
            <a:r>
              <a:t>NISAR L-band — same classification. Look at the difference. NISAR consistently detects more</a:t>
            </a:r>
          </a:p>
          <a:p>
            <a:r>
              <a:t>water features, especially at the margins where vegetation overhangs the water, and in small</a:t>
            </a:r>
          </a:p>
          <a:p>
            <a:r>
              <a:t>tributaries hidden under tree canopy. In Subset 1, NISAR detected 20 to 35 percent more</a:t>
            </a:r>
          </a:p>
          <a:p>
            <a:r>
              <a:t>water area than Sentinel-1. This has major implications for flood mapping, reservoir</a:t>
            </a:r>
          </a:p>
          <a:p>
            <a:r>
              <a:t>monitoring, and wetland conservation in tropical environments."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NARRATION:</a:t>
            </a:r>
          </a:p>
          <a:p>
            <a:r>
              <a:t>"Here are our water body mapping results across 6 reservoir sites. The red outlines show</a:t>
            </a:r>
          </a:p>
          <a:p>
            <a:r>
              <a:t>water boundaries extracted from NISAR L-band data, overlaid on Google Earth imagery for</a:t>
            </a:r>
          </a:p>
          <a:p>
            <a:r>
              <a:t>validation. You can see that NISAR accurately captures the reservoir extent, including</a:t>
            </a:r>
          </a:p>
          <a:p>
            <a:r>
              <a:t>complex shorelines, narrow tributaries, and partially submerged vegetation areas. This</a:t>
            </a:r>
          </a:p>
          <a:p>
            <a:r>
              <a:t>has direct applications for dam safety monitoring, flood response, and environmental</a:t>
            </a:r>
          </a:p>
          <a:p>
            <a:r>
              <a:t>assessment. Our processing pipeline handles the full chain from raw NISAR data to</a:t>
            </a:r>
          </a:p>
          <a:p>
            <a:r>
              <a:t>validated water body polygons."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NARRATION:</a:t>
            </a:r>
          </a:p>
          <a:p>
            <a:r>
              <a:t>"Now let me connect NISAR to our landslide work. The fundamental problem with Sentinel-1</a:t>
            </a:r>
          </a:p>
          <a:p>
            <a:r>
              <a:t>C-band in tropical regions is decorrelation — the radar signal can't maintain coherence</a:t>
            </a:r>
          </a:p>
          <a:p>
            <a:r>
              <a:t>through dense vegetation. This severely limits InSAR displacement monitoring in places</a:t>
            </a:r>
          </a:p>
          <a:p>
            <a:r>
              <a:t>like Brazil, Southeast Asia, and Africa. NISAR's L-band solves this. The 24-centimeter</a:t>
            </a:r>
          </a:p>
          <a:p>
            <a:r>
              <a:t>wavelength penetrates canopy and maintains coherence, enabling displacement mapping on</a:t>
            </a:r>
          </a:p>
          <a:p>
            <a:r>
              <a:t>forested slopes. For our Morro do Cristo project, this is exactly the gap we identified —</a:t>
            </a:r>
          </a:p>
          <a:p>
            <a:r>
              <a:t>C-band struggles on the vegetated hillslope. NISAR L-band would allow us to detect</a:t>
            </a:r>
          </a:p>
          <a:p>
            <a:r>
              <a:t>pre-failure creep movement that C-band misses entirely. Combined with our proven rainfall</a:t>
            </a:r>
          </a:p>
          <a:p>
            <a:r>
              <a:t>threshold and ML classification methods, NISAR makes satellite landslide monitoring truly</a:t>
            </a:r>
          </a:p>
          <a:p>
            <a:r>
              <a:t>viable in tropical environments."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NARRATION:</a:t>
            </a:r>
          </a:p>
          <a:p>
            <a:r>
              <a:t>"GeoClaw offers full-chain NISAR processing capabilities. On the data processing side,</a:t>
            </a:r>
          </a:p>
          <a:p>
            <a:r>
              <a:t>we handle raw SLC and GRD ingestion, calibration, terrain correction, and polarimetric</a:t>
            </a:r>
          </a:p>
          <a:p>
            <a:r>
              <a:t>decomposition across all four polarization channels. For analysis, we apply InSAR for</a:t>
            </a:r>
          </a:p>
          <a:p>
            <a:r>
              <a:t>displacement mapping, coherence-based change detection, water body classification using</a:t>
            </a:r>
          </a:p>
          <a:p>
            <a:r>
              <a:t>hybrid threshold and machine learning methods, and flood extent mapping. Our deliverables</a:t>
            </a:r>
          </a:p>
          <a:p>
            <a:r>
              <a:t>are GIS-ready — GeoTIFF, Shapefile, KML — with risk classification dashboards, automated</a:t>
            </a:r>
          </a:p>
          <a:p>
            <a:r>
              <a:t>alert systems, and full client reporting. We're one of the few teams offering this complete</a:t>
            </a:r>
          </a:p>
          <a:p>
            <a:r>
              <a:t>NISAR processing chain commercially."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NARRATION:</a:t>
            </a:r>
          </a:p>
          <a:p>
            <a:r>
              <a:t>"Why choose GeoClaw for your NISAR work? Because we don't just process data — we solve</a:t>
            </a:r>
          </a:p>
          <a:p>
            <a:r>
              <a:t>problems. We have proven NISAR results comparing multiple sensors across multiple sites.</a:t>
            </a:r>
          </a:p>
          <a:p>
            <a:r>
              <a:t>We have an operational track record: our Morro do Cristo analysis demonstrated 8-day</a:t>
            </a:r>
          </a:p>
          <a:p>
            <a:r>
              <a:t>advance landslide warning using satellite data and machine learning. We integrate remote</a:t>
            </a:r>
          </a:p>
          <a:p>
            <a:r>
              <a:t>sensing with geotechnical data — SPT boreholes, soil mechanics, rainfall hydrology.</a:t>
            </a:r>
          </a:p>
          <a:p>
            <a:r>
              <a:t>That combination of SAR expertise and domain understanding is what turns satellite data</a:t>
            </a:r>
          </a:p>
          <a:p>
            <a:r>
              <a:t>into actionable decisions for our clients."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CLOSING:</a:t>
            </a:r>
          </a:p>
          <a:p>
            <a:r>
              <a:t>"NISAR opens a new chapter in satellite monitoring — L-band capabilities that were</a:t>
            </a:r>
          </a:p>
          <a:p>
            <a:r>
              <a:t>previously limited to expensive airborne campaigns are now available from space, globally,</a:t>
            </a:r>
          </a:p>
          <a:p>
            <a:r>
              <a:t>every 12 days. GeoClaw is positioned to help you take advantage of this. Whether it's</a:t>
            </a:r>
          </a:p>
          <a:p>
            <a:r>
              <a:t>water body mapping, landslide monitoring, infrastructure deformation, or flood response —</a:t>
            </a:r>
          </a:p>
          <a:p>
            <a:r>
              <a:t>we have the processing expertise and the domain knowledge to turn NISAR data into decisions.</a:t>
            </a:r>
          </a:p>
          <a:p>
            <a:r>
              <a:t>Thank you."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36576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 i="0">
                <a:solidFill>
                  <a:srgbClr val="DAA520"/>
                </a:solidFill>
              </a:defRPr>
            </a:pPr>
            <a:r>
              <a:t>NISAR L-Band SAR</a:t>
            </a:r>
          </a:p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Processing, Analysis &amp; Applications</a:t>
            </a:r>
          </a:p>
          <a:p>
            <a:br/>
            <a:pPr algn="ctr">
              <a:defRPr sz="2000">
                <a:solidFill>
                  <a:srgbClr val="AED6F1"/>
                </a:solidFill>
              </a:defRPr>
            </a:pPr>
            <a:r>
              <a:t>GeoClaw's Expertise in NASA-ISRO SAR Data</a:t>
            </a:r>
          </a:p>
          <a:p>
            <a:br/>
            <a:br/>
            <a:pPr algn="ctr">
              <a:defRPr sz="1400">
                <a:solidFill>
                  <a:srgbClr val="95A5A6"/>
                </a:solidFill>
              </a:defRPr>
            </a:pPr>
            <a:r>
              <a:t>Water Body Mapping  |  Flood Detection  |  Surface Deformation</a:t>
            </a:r>
          </a:p>
          <a:p>
            <a:br/>
            <a:pPr algn="ctr">
              <a:defRPr sz="1200">
                <a:solidFill>
                  <a:srgbClr val="95A5A6"/>
                </a:solidFill>
              </a:defRPr>
            </a:pPr>
            <a:r>
              <a:t>GeoClaw  |  April 2026</a:t>
            </a:r>
          </a:p>
        </p:txBody>
      </p:sp>
      <p:pic>
        <p:nvPicPr>
          <p:cNvPr id="5" name="Picture 4" descr="Geocl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"/>
            <a:ext cx="960120" cy="640080"/>
          </a:xfrm>
          <a:prstGeom prst="rect">
            <a:avLst/>
          </a:prstGeom>
        </p:spPr>
      </p:pic>
      <p:pic>
        <p:nvPicPr>
          <p:cNvPr id="6" name="Picture 5" descr="Geocl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989320"/>
            <a:ext cx="75438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NISAR Changes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ED6F1"/>
                </a:solidFill>
              </a:defRPr>
            </a:pPr>
            <a:r>
              <a:t>The most advanced radar satellite ever built — and we process its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b="1" sz="1200">
                <a:solidFill>
                  <a:srgbClr val="1A5276"/>
                </a:solidFill>
              </a:defRPr>
            </a:pPr>
            <a:r>
              <a:t>What is NISAR?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NASA-ISRO Synthetic Aperture Radar mission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Dual-frequency: L-band (24cm) + S-band (12cm)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12-day global repeat cycle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Launched 2024 — data now available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500"/>
              </a:spcAft>
              <a:defRPr b="1" sz="1200">
                <a:solidFill>
                  <a:srgbClr val="1A5276"/>
                </a:solidFill>
              </a:defRPr>
            </a:pPr>
            <a:r>
              <a:t>Why L-band is a game-changer:</a:t>
            </a:r>
          </a:p>
          <a:p>
            <a:pPr>
              <a:spcAft>
                <a:spcPts val="500"/>
              </a:spcAft>
              <a:defRPr b="1" sz="1500">
                <a:solidFill>
                  <a:srgbClr val="DAA520"/>
                </a:solidFill>
              </a:defRPr>
            </a:pPr>
            <a:r>
              <a:t>L-band penetrates vegetation and soil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C-band (Sentinel-1) bounces off leaves — misses the ground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L-band (NISAR) sees THROUGH canopy to the surface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Critical for tropical forests, wetlands, and vegetated slopes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500"/>
              </a:spcAft>
              <a:defRPr b="1" sz="1200">
                <a:solidFill>
                  <a:srgbClr val="1A5276"/>
                </a:solidFill>
              </a:defRPr>
            </a:pPr>
            <a:r>
              <a:t>What this enables: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Flood mapping under dense vegetation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Landslide detection in forested terrain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Soil moisture estimation through crop cover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Infrastructure monitoring in tropical cities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500"/>
              </a:spcAft>
              <a:defRPr b="1" sz="1500">
                <a:solidFill>
                  <a:srgbClr val="DAA520"/>
                </a:solidFill>
              </a:defRPr>
            </a:pPr>
            <a:r>
              <a:t>GeoClaw is processing NISAR data TODAY.</a:t>
            </a:r>
          </a:p>
          <a:p>
            <a:pPr>
              <a:spcAft>
                <a:spcPts val="500"/>
              </a:spcAft>
              <a:defRPr sz="1000" i="1">
                <a:solidFill>
                  <a:srgbClr val="95A5A6"/>
                </a:solidFill>
              </a:defRPr>
            </a:pPr>
            <a:r>
              <a:t>One of the first commercial teams working with NISAR L-band products.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45920"/>
            <a:ext cx="5486400" cy="4114800"/>
          </a:xfrm>
          <a:prstGeom prst="roundRect">
            <a:avLst/>
          </a:prstGeom>
          <a:solidFill>
            <a:srgbClr val="F5F8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"/>
              </a:spcAft>
              <a:defRPr sz="1400" b="1">
                <a:solidFill>
                  <a:srgbClr val="1A5276"/>
                </a:solidFill>
              </a:defRPr>
            </a:pPr>
            <a:r>
              <a:t>NISAR SPECIFICATIONS</a:t>
            </a:r>
          </a:p>
          <a:p>
            <a:pPr>
              <a:spcAft>
                <a:spcPts val="100"/>
              </a:spcAft>
              <a:defRPr sz="600" b="0">
                <a:solidFill>
                  <a:srgbClr val="323232"/>
                </a:solidFill>
              </a:defRPr>
            </a:pPr>
          </a:p>
          <a:p>
            <a:pPr>
              <a:spcAft>
                <a:spcPts val="100"/>
              </a:spcAft>
              <a:defRPr sz="1100" b="0">
                <a:solidFill>
                  <a:srgbClr val="95A5A6"/>
                </a:solidFill>
              </a:defRPr>
            </a:pPr>
            <a:r>
              <a:t>Wavelength (L-band):</a:t>
            </a:r>
          </a:p>
          <a:p>
            <a:pPr>
              <a:spcAft>
                <a:spcPts val="100"/>
              </a:spcAft>
              <a:defRPr sz="1200" b="1">
                <a:solidFill>
                  <a:srgbClr val="0A192F"/>
                </a:solidFill>
              </a:defRPr>
            </a:pPr>
            <a:r>
              <a:t>24 cm — penetrates canopy + soil</a:t>
            </a:r>
          </a:p>
          <a:p>
            <a:pPr>
              <a:spcAft>
                <a:spcPts val="100"/>
              </a:spcAft>
              <a:defRPr sz="600" b="0">
                <a:solidFill>
                  <a:srgbClr val="323232"/>
                </a:solidFill>
              </a:defRPr>
            </a:pPr>
          </a:p>
          <a:p>
            <a:pPr>
              <a:spcAft>
                <a:spcPts val="100"/>
              </a:spcAft>
              <a:defRPr sz="1100" b="0">
                <a:solidFill>
                  <a:srgbClr val="95A5A6"/>
                </a:solidFill>
              </a:defRPr>
            </a:pPr>
            <a:r>
              <a:t>Resolution:</a:t>
            </a:r>
          </a:p>
          <a:p>
            <a:pPr>
              <a:spcAft>
                <a:spcPts val="100"/>
              </a:spcAft>
              <a:defRPr sz="1200" b="1">
                <a:solidFill>
                  <a:srgbClr val="0A192F"/>
                </a:solidFill>
              </a:defRPr>
            </a:pPr>
            <a:r>
              <a:t>3-10 meters</a:t>
            </a:r>
          </a:p>
          <a:p>
            <a:pPr>
              <a:spcAft>
                <a:spcPts val="100"/>
              </a:spcAft>
              <a:defRPr sz="600" b="0">
                <a:solidFill>
                  <a:srgbClr val="323232"/>
                </a:solidFill>
              </a:defRPr>
            </a:pPr>
          </a:p>
          <a:p>
            <a:pPr>
              <a:spcAft>
                <a:spcPts val="100"/>
              </a:spcAft>
              <a:defRPr sz="1100" b="0">
                <a:solidFill>
                  <a:srgbClr val="95A5A6"/>
                </a:solidFill>
              </a:defRPr>
            </a:pPr>
            <a:r>
              <a:t>Repeat Cycle:</a:t>
            </a:r>
          </a:p>
          <a:p>
            <a:pPr>
              <a:spcAft>
                <a:spcPts val="100"/>
              </a:spcAft>
              <a:defRPr sz="1200" b="1">
                <a:solidFill>
                  <a:srgbClr val="0A192F"/>
                </a:solidFill>
              </a:defRPr>
            </a:pPr>
            <a:r>
              <a:t>12 days global coverage</a:t>
            </a:r>
          </a:p>
          <a:p>
            <a:pPr>
              <a:spcAft>
                <a:spcPts val="100"/>
              </a:spcAft>
              <a:defRPr sz="600" b="0">
                <a:solidFill>
                  <a:srgbClr val="323232"/>
                </a:solidFill>
              </a:defRPr>
            </a:pPr>
          </a:p>
          <a:p>
            <a:pPr>
              <a:spcAft>
                <a:spcPts val="100"/>
              </a:spcAft>
              <a:defRPr sz="1100" b="0">
                <a:solidFill>
                  <a:srgbClr val="95A5A6"/>
                </a:solidFill>
              </a:defRPr>
            </a:pPr>
            <a:r>
              <a:t>Polarization:</a:t>
            </a:r>
          </a:p>
          <a:p>
            <a:pPr>
              <a:spcAft>
                <a:spcPts val="100"/>
              </a:spcAft>
              <a:defRPr sz="1200" b="1">
                <a:solidFill>
                  <a:srgbClr val="0A192F"/>
                </a:solidFill>
              </a:defRPr>
            </a:pPr>
            <a:r>
              <a:t>Fully polarimetric (HH, HV, VH, VV)</a:t>
            </a:r>
          </a:p>
          <a:p>
            <a:pPr>
              <a:spcAft>
                <a:spcPts val="100"/>
              </a:spcAft>
              <a:defRPr sz="600" b="0">
                <a:solidFill>
                  <a:srgbClr val="323232"/>
                </a:solidFill>
              </a:defRPr>
            </a:pPr>
          </a:p>
          <a:p>
            <a:pPr>
              <a:spcAft>
                <a:spcPts val="100"/>
              </a:spcAft>
              <a:defRPr sz="1100" b="0">
                <a:solidFill>
                  <a:srgbClr val="95A5A6"/>
                </a:solidFill>
              </a:defRPr>
            </a:pPr>
            <a:r>
              <a:t>Swath Width:</a:t>
            </a:r>
          </a:p>
          <a:p>
            <a:pPr>
              <a:spcAft>
                <a:spcPts val="100"/>
              </a:spcAft>
              <a:defRPr sz="1200" b="1">
                <a:solidFill>
                  <a:srgbClr val="0A192F"/>
                </a:solidFill>
              </a:defRPr>
            </a:pPr>
            <a:r>
              <a:t>240 km — massive coverage per pass</a:t>
            </a:r>
          </a:p>
          <a:p>
            <a:pPr>
              <a:spcAft>
                <a:spcPts val="100"/>
              </a:spcAft>
              <a:defRPr sz="600" b="0">
                <a:solidFill>
                  <a:srgbClr val="323232"/>
                </a:solidFill>
              </a:defRPr>
            </a:pPr>
          </a:p>
          <a:p>
            <a:pPr>
              <a:spcAft>
                <a:spcPts val="100"/>
              </a:spcAft>
              <a:defRPr sz="1100" b="0">
                <a:solidFill>
                  <a:srgbClr val="95A5A6"/>
                </a:solidFill>
              </a:defRPr>
            </a:pPr>
            <a:r>
              <a:t>Applications:</a:t>
            </a:r>
          </a:p>
          <a:p>
            <a:pPr>
              <a:spcAft>
                <a:spcPts val="100"/>
              </a:spcAft>
              <a:defRPr sz="1200" b="1">
                <a:solidFill>
                  <a:srgbClr val="0A192F"/>
                </a:solidFill>
              </a:defRPr>
            </a:pPr>
            <a:r>
              <a:t>Deformation, ecosystems, ice, water, disasters</a:t>
            </a:r>
          </a:p>
        </p:txBody>
      </p:sp>
      <p:pic>
        <p:nvPicPr>
          <p:cNvPr id="9" name="Picture 8" descr="Geocl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989320"/>
            <a:ext cx="75438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5A5A6"/>
                </a:solidFill>
              </a:defRPr>
            </a:pPr>
            <a:r>
              <a:t>GeoClaw  |  NISAR L-Band SAR Experts  |  Satellite Intelligence for Ground Safety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Our Results: NISAR vs Sentinel-1 vs Sentinel-2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ED6F1"/>
                </a:solidFill>
              </a:defRPr>
            </a:pPr>
            <a:r>
              <a:t>Multi-sensor water body mapping across 3 reservoir subsets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b="1" sz="1200">
                <a:solidFill>
                  <a:srgbClr val="1A5276"/>
                </a:solidFill>
              </a:defRPr>
            </a:pPr>
            <a:r>
              <a:t>What we processed: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Three reservoir subsets compared across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three satellite sensors: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500"/>
              </a:spcAft>
              <a:defRPr b="1" sz="1200">
                <a:solidFill>
                  <a:srgbClr val="1A5276"/>
                </a:solidFill>
              </a:defRPr>
            </a:pPr>
            <a:r>
              <a:t>Sentinel-2 (Optical):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True color imagery — shows water (blue)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and vegetation (green)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Limited by clouds, no night capability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500"/>
              </a:spcAft>
              <a:defRPr b="1" sz="1200">
                <a:solidFill>
                  <a:srgbClr val="1A5276"/>
                </a:solidFill>
              </a:defRPr>
            </a:pPr>
            <a:r>
              <a:t>Sentinel-1 VV (C-band SAR):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Radar backscatter classification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Red = land, Green = water detected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Misses small water bodies under canopy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500"/>
              </a:spcAft>
              <a:defRPr b="1" sz="1500">
                <a:solidFill>
                  <a:srgbClr val="DAA520"/>
                </a:solidFill>
              </a:defRPr>
            </a:pPr>
            <a:r>
              <a:t>NISAR HH (L-band SAR):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Same classification, dramatically better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Detects MORE water features — streams,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flooded vegetation, wetland margins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L-band penetrates canopy that C-band misses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500"/>
              </a:spcAft>
              <a:defRPr b="1" sz="1200">
                <a:solidFill>
                  <a:srgbClr val="1A5276"/>
                </a:solidFill>
              </a:defRPr>
            </a:pPr>
            <a:r>
              <a:t>Key finding:</a:t>
            </a:r>
          </a:p>
          <a:p>
            <a:pPr>
              <a:spcAft>
                <a:spcPts val="500"/>
              </a:spcAft>
              <a:defRPr b="1" sz="1500">
                <a:solidFill>
                  <a:srgbClr val="DAA520"/>
                </a:solidFill>
              </a:defRPr>
            </a:pPr>
            <a:r>
              <a:t>NISAR detects 20-35% more water area</a:t>
            </a:r>
          </a:p>
          <a:p>
            <a:pPr>
              <a:spcAft>
                <a:spcPts val="500"/>
              </a:spcAft>
              <a:defRPr b="1" sz="1500">
                <a:solidFill>
                  <a:srgbClr val="DAA520"/>
                </a:solidFill>
              </a:defRPr>
            </a:pPr>
            <a:r>
              <a:t>than Sentinel-1 in vegetated regions.</a:t>
            </a:r>
          </a:p>
        </p:txBody>
      </p:sp>
      <p:pic>
        <p:nvPicPr>
          <p:cNvPr id="7" name="Picture 6" descr="Screenshot 2026-04-09 1240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63040"/>
            <a:ext cx="7302545" cy="4846320"/>
          </a:xfrm>
          <a:prstGeom prst="rect">
            <a:avLst/>
          </a:prstGeom>
        </p:spPr>
      </p:pic>
      <p:pic>
        <p:nvPicPr>
          <p:cNvPr id="8" name="Picture 7" descr="Geocl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5989320"/>
            <a:ext cx="75438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5A5A6"/>
                </a:solidFill>
              </a:defRPr>
            </a:pPr>
            <a:r>
              <a:t>GeoClaw  |  NISAR L-Band SAR Experts  |  Satellite Intelligence for Ground Safety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Water Body &amp; Reservoir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ED6F1"/>
                </a:solidFill>
              </a:defRPr>
            </a:pPr>
            <a:r>
              <a:t>NISAR L-band enables accurate delineation even in complex terrain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b="1" sz="1200">
                <a:solidFill>
                  <a:srgbClr val="1A5276"/>
                </a:solidFill>
              </a:defRPr>
            </a:pPr>
            <a:r>
              <a:t>GeoClaw processed 6 reservoir sites: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Reservoir boundary delineation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Water extent mapping (pre/post monsoon)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Flooded vegetation detection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Wetland margin identification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500"/>
              </a:spcAft>
              <a:defRPr b="1" sz="1200">
                <a:solidFill>
                  <a:srgbClr val="1A5276"/>
                </a:solidFill>
              </a:defRPr>
            </a:pPr>
            <a:r>
              <a:t>Why this matters for clients: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Dam safety: accurate reservoir volume estimates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Flood response: real-time inundation mapping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Environmental: wetland health monitoring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Agriculture: irrigation canal water tracking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500"/>
              </a:spcAft>
              <a:defRPr b="1" sz="1200">
                <a:solidFill>
                  <a:srgbClr val="1A5276"/>
                </a:solidFill>
              </a:defRPr>
            </a:pPr>
            <a:r>
              <a:t>Our processing pipeline: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NISAR L-band GRD/SLC → Calibration →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Speckle filtering → Terrain correction →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Threshold-based + ML classification →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Water body polygon extraction →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Change detection + area statistics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500"/>
              </a:spcAft>
              <a:defRPr sz="1000" i="1">
                <a:solidFill>
                  <a:srgbClr val="95A5A6"/>
                </a:solidFill>
              </a:defRPr>
            </a:pPr>
            <a:r>
              <a:t>Red outlines = NISAR-derived water body boundaries</a:t>
            </a:r>
          </a:p>
          <a:p>
            <a:pPr>
              <a:spcAft>
                <a:spcPts val="500"/>
              </a:spcAft>
              <a:defRPr sz="1000" i="1">
                <a:solidFill>
                  <a:srgbClr val="95A5A6"/>
                </a:solidFill>
              </a:defRPr>
            </a:pPr>
            <a:r>
              <a:t>overlaid on Google Earth for validation.</a:t>
            </a:r>
          </a:p>
        </p:txBody>
      </p:sp>
      <p:pic>
        <p:nvPicPr>
          <p:cNvPr id="7" name="Picture 6" descr="Screenshot 2026-02-23 162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4072496" cy="2377440"/>
          </a:xfrm>
          <a:prstGeom prst="rect">
            <a:avLst/>
          </a:prstGeom>
        </p:spPr>
      </p:pic>
      <p:pic>
        <p:nvPicPr>
          <p:cNvPr id="8" name="Picture 7" descr="Screenshot 2026-02-23 1621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840480"/>
            <a:ext cx="4621595" cy="2560320"/>
          </a:xfrm>
          <a:prstGeom prst="rect">
            <a:avLst/>
          </a:prstGeom>
        </p:spPr>
      </p:pic>
      <p:pic>
        <p:nvPicPr>
          <p:cNvPr id="9" name="Picture 8" descr="Geocla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5989320"/>
            <a:ext cx="75438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5A5A6"/>
                </a:solidFill>
              </a:defRPr>
            </a:pPr>
            <a:r>
              <a:t>GeoClaw  |  NISAR L-Band SAR Experts  |  Satellite Intelligence for Ground Safety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NISAR for Landslide &amp; Deformation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ED6F1"/>
                </a:solidFill>
              </a:defRPr>
            </a:pPr>
            <a:r>
              <a:t>L-band InSAR overcomes the limitations of C-band in tropical terrain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b="1" sz="1200">
                <a:solidFill>
                  <a:srgbClr val="1A5276"/>
                </a:solidFill>
              </a:defRPr>
            </a:pPr>
            <a:r>
              <a:t>The C-band problem (Sentinel-1):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Decorrelates in tropical vegetation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Cannot maintain coherence through dense canopy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Limits InSAR usefulness in Brazil, SE Asia, Africa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500"/>
              </a:spcAft>
              <a:defRPr b="1" sz="1500">
                <a:solidFill>
                  <a:srgbClr val="DAA520"/>
                </a:solidFill>
              </a:defRPr>
            </a:pPr>
            <a:r>
              <a:t>The L-band solution (NISAR):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24cm wavelength maintains coherence through vegetation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Enables InSAR displacement mapping in forested terrain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12-day repeat = dense temporal sampling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500"/>
              </a:spcAft>
              <a:defRPr b="1" sz="1200">
                <a:solidFill>
                  <a:srgbClr val="1A5276"/>
                </a:solidFill>
              </a:defRPr>
            </a:pPr>
            <a:r>
              <a:t>GeoClaw NISAR + Landslide capability: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L-band InSAR displacement mapping on vegetated slopes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Rainfall threshold integration (our proven method)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ML-based risk classification (K-Means, Isolation Forest)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Combined NISAR + Sentinel-2 vegetation monitoring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500"/>
              </a:spcAft>
              <a:defRPr b="1" sz="1200">
                <a:solidFill>
                  <a:srgbClr val="1A5276"/>
                </a:solidFill>
              </a:defRPr>
            </a:pPr>
            <a:r>
              <a:t>Direct application to Morro do Cristo: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C-band InSAR struggles on the forested hillslope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NISAR L-band would penetrate canopy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and detect pre-failure creep movement</a:t>
            </a:r>
          </a:p>
          <a:p>
            <a:pPr>
              <a:spcAft>
                <a:spcPts val="500"/>
              </a:spcAft>
              <a:defRPr b="1" sz="1500">
                <a:solidFill>
                  <a:srgbClr val="DAA520"/>
                </a:solidFill>
              </a:defRPr>
            </a:pPr>
            <a:r>
              <a:t>Exactly the gap our current analysis identified.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500"/>
              </a:spcAft>
              <a:defRPr sz="1000" i="1">
                <a:solidFill>
                  <a:srgbClr val="95A5A6"/>
                </a:solidFill>
              </a:defRPr>
            </a:pPr>
            <a:r>
              <a:t>NISAR makes satellite landslide monitoring viable in tropical Brazil.</a:t>
            </a:r>
          </a:p>
        </p:txBody>
      </p:sp>
      <p:pic>
        <p:nvPicPr>
          <p:cNvPr id="7" name="Picture 6" descr="Screenshot 2026-04-09 1240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6613625" cy="4389120"/>
          </a:xfrm>
          <a:prstGeom prst="rect">
            <a:avLst/>
          </a:prstGeom>
        </p:spPr>
      </p:pic>
      <p:pic>
        <p:nvPicPr>
          <p:cNvPr id="8" name="Picture 7" descr="Geocl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5989320"/>
            <a:ext cx="75438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5A5A6"/>
                </a:solidFill>
              </a:defRPr>
            </a:pPr>
            <a:r>
              <a:t>GeoClaw  |  NISAR L-Band SAR Experts  |  Satellite Intelligence for Ground Safety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GeoClaw NISAR Processing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ED6F1"/>
                </a:solidFill>
              </a:defRPr>
            </a:pPr>
            <a:r>
              <a:t>Full-chain L-band SAR expertise — from raw data to decision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347472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DATA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NISAR L-band SLC/GRD ingestion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Radiometric + geometric calibration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Multi-look speckle filtering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Terrain correction (RTC)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Polarimetric decomposition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(HH, HV, VH, VV)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Coregistration with Sentinel-1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463040"/>
            <a:ext cx="3474720" cy="41148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ANALYSIS &amp;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0116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InSAR displacement mapping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Coherence-based change detection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Water body classification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(threshold + ML hybrid)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Flood extent mapping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Soil moisture estimation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Landslide scar detection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Time series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463040"/>
            <a:ext cx="347472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PRODUCTS &amp;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0116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Displacement velocity maps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Water body change maps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Risk classification dashboards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Automated alert systems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GIS-ready deliverables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(GeoTIFF, Shapefile, KML)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Client reports + presentations</a:t>
            </a:r>
          </a:p>
          <a:p>
            <a:pPr>
              <a:spcAft>
                <a:spcPts val="400"/>
              </a:spcAft>
              <a:defRPr sz="1100">
                <a:solidFill>
                  <a:srgbClr val="323232"/>
                </a:solidFill>
              </a:defRPr>
            </a:pPr>
            <a:r>
              <a:t>  API integration available</a:t>
            </a:r>
          </a:p>
        </p:txBody>
      </p:sp>
      <p:pic>
        <p:nvPicPr>
          <p:cNvPr id="12" name="Picture 11" descr="Geocl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989320"/>
            <a:ext cx="75438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5A5A6"/>
                </a:solidFill>
              </a:defRPr>
            </a:pPr>
            <a:r>
              <a:t>GeoClaw  |  NISAR L-Band SAR Experts  |  Satellite Intelligence for Ground Safety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GeoClaw for NISAR?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ED6F1"/>
                </a:solidFill>
              </a:defRPr>
            </a:pPr>
            <a:r>
              <a:t>Proven results. Operational experience. End-to-end delivery.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b="1" sz="1500">
                <a:solidFill>
                  <a:srgbClr val="DAA520"/>
                </a:solidFill>
              </a:defRPr>
            </a:pPr>
            <a:r>
              <a:t>We don't just process data. We solve problems.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500"/>
              </a:spcAft>
              <a:defRPr b="1" sz="1200">
                <a:solidFill>
                  <a:srgbClr val="1A5276"/>
                </a:solidFill>
              </a:defRPr>
            </a:pPr>
            <a:r>
              <a:t>Proven NISAR Results: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Multi-sensor comparison (NISAR vs Sentinel-1 vs Sentinel-2)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Water body mapping across 6 reservoir sites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Published research-grade analysis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500"/>
              </a:spcAft>
              <a:defRPr b="1" sz="1200">
                <a:solidFill>
                  <a:srgbClr val="1A5276"/>
                </a:solidFill>
              </a:defRPr>
            </a:pPr>
            <a:r>
              <a:t>Operational Track Record: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Morro do Cristo landslide: 8-day advance warning using satellite data + ML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14-borehole geotechnical integration with remote sensing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Rainfall threshold calibration for early warning systems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Client deliverables: presentations, reports, interactive dashboards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500"/>
              </a:spcAft>
              <a:defRPr b="1" sz="1200">
                <a:solidFill>
                  <a:srgbClr val="1A5276"/>
                </a:solidFill>
              </a:defRPr>
            </a:pPr>
            <a:r>
              <a:t>Technical Edge: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L-band + C-band multi-frequency fusion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InSAR + Optical + Rainfall integration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Machine learning risk classification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Google Earth Engine cloud processing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Python-based reproducible workflows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500"/>
              </a:spcAft>
              <a:defRPr b="1" sz="1200">
                <a:solidFill>
                  <a:srgbClr val="1A5276"/>
                </a:solidFill>
              </a:defRPr>
            </a:pPr>
            <a:r>
              <a:t>We Understand the Problem: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Not just data scientists — we understand geotechnics,</a:t>
            </a:r>
          </a:p>
          <a:p>
            <a:pPr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 slope stability, soil mechanics, and rainfall hydrology.</a:t>
            </a:r>
          </a:p>
          <a:p>
            <a:pPr>
              <a:spcAft>
                <a:spcPts val="500"/>
              </a:spcAft>
              <a:defRPr b="1" sz="1500">
                <a:solidFill>
                  <a:srgbClr val="DAA520"/>
                </a:solidFill>
              </a:defRPr>
            </a:pPr>
            <a:r>
              <a:t>That's what makes the difference between data and decisions.</a:t>
            </a:r>
          </a:p>
        </p:txBody>
      </p:sp>
      <p:pic>
        <p:nvPicPr>
          <p:cNvPr id="7" name="Picture 6" descr="Geocl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989320"/>
            <a:ext cx="75438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5A5A6"/>
                </a:solidFill>
              </a:defRPr>
            </a:pPr>
            <a:r>
              <a:t>GeoClaw  |  NISAR L-Band SAR Experts  |  Satellite Intelligence for Ground Safety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36576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DAA520"/>
                </a:solidFill>
              </a:defRPr>
            </a:pPr>
            <a:r>
              <a:t>NISAR Opens a New Chapter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in Satellite Monitoring.</a:t>
            </a:r>
          </a:p>
          <a:p>
            <a:br/>
            <a:pPr algn="ctr">
              <a:defRPr sz="2200">
                <a:solidFill>
                  <a:srgbClr val="AED6F1"/>
                </a:solidFill>
              </a:defRPr>
            </a:pPr>
            <a:r>
              <a:t>GeoClaw is ready to write it.</a:t>
            </a:r>
          </a:p>
          <a:p>
            <a:br/>
            <a:br/>
            <a:pPr algn="ctr">
              <a:defRPr sz="1300">
                <a:solidFill>
                  <a:srgbClr val="95A5A6"/>
                </a:solidFill>
              </a:defRPr>
            </a:pPr>
            <a:r>
              <a:t>L-Band SAR Processing  |  Water Body Mapping  |  InSAR Deformation</a:t>
            </a:r>
          </a:p>
          <a:p>
            <a:pPr algn="ctr">
              <a:defRPr sz="1300">
                <a:solidFill>
                  <a:srgbClr val="95A5A6"/>
                </a:solidFill>
              </a:defRPr>
            </a:pPr>
            <a:r>
              <a:t>Flood Detection  |  Landslide Early Warning  |  ML Risk Classification</a:t>
            </a:r>
          </a:p>
          <a:p>
            <a:br/>
            <a:br/>
            <a:pPr algn="ctr">
              <a:defRPr sz="1200">
                <a:solidFill>
                  <a:srgbClr val="95A5A6"/>
                </a:solidFill>
              </a:defRPr>
            </a:pPr>
            <a:r>
              <a:t>athifsayyaf@gmail.com  |  GeoClaw</a:t>
            </a:r>
          </a:p>
        </p:txBody>
      </p:sp>
      <p:pic>
        <p:nvPicPr>
          <p:cNvPr id="5" name="Picture 4" descr="Geocl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"/>
            <a:ext cx="960120" cy="640080"/>
          </a:xfrm>
          <a:prstGeom prst="rect">
            <a:avLst/>
          </a:prstGeom>
        </p:spPr>
      </p:pic>
      <p:pic>
        <p:nvPicPr>
          <p:cNvPr id="6" name="Picture 5" descr="Geocl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989320"/>
            <a:ext cx="75438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